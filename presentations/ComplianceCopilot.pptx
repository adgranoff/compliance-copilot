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4" d="100"/>
          <a:sy n="94" d="100"/>
        </p:scale>
        <p:origin x="75" y="32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365760"/>
          </a:xfrm>
          <a:prstGeom prst="rect">
            <a:avLst/>
          </a:prstGeom>
          <a:noFill/>
        </p:spPr>
        <p:txBody>
          <a:bodyPr wrap="square">
            <a:spAutoFit/>
          </a:bodyPr>
          <a:lstStyle/>
          <a:p>
            <a:pPr algn="l">
              <a:defRPr sz="1200" b="1">
                <a:solidFill>
                  <a:srgbClr val="58A6FF"/>
                </a:solidFill>
                <a:latin typeface="Segoe UI"/>
              </a:defRPr>
            </a:pPr>
            <a:r>
              <a:t>COMPLIANCE COPILOT</a:t>
            </a:r>
          </a:p>
        </p:txBody>
      </p:sp>
      <p:sp>
        <p:nvSpPr>
          <p:cNvPr id="4" name="TextBox 3"/>
          <p:cNvSpPr txBox="1"/>
          <p:nvPr/>
        </p:nvSpPr>
        <p:spPr>
          <a:xfrm>
            <a:off x="680720" y="574040"/>
            <a:ext cx="10657840" cy="584775"/>
          </a:xfrm>
          <a:prstGeom prst="rect">
            <a:avLst/>
          </a:prstGeom>
          <a:noFill/>
        </p:spPr>
        <p:txBody>
          <a:bodyPr wrap="square">
            <a:spAutoFit/>
          </a:bodyPr>
          <a:lstStyle/>
          <a:p>
            <a:pPr algn="l">
              <a:defRPr sz="3200" b="1">
                <a:solidFill>
                  <a:srgbClr val="FFFFFF"/>
                </a:solidFill>
                <a:latin typeface="Segoe UI"/>
              </a:defRPr>
            </a:pPr>
            <a:r>
              <a:rPr dirty="0"/>
              <a:t>AI-Powered Compliance Review for Every Pull Request</a:t>
            </a:r>
          </a:p>
        </p:txBody>
      </p:sp>
      <p:sp>
        <p:nvSpPr>
          <p:cNvPr id="5" name="TextBox 4"/>
          <p:cNvSpPr txBox="1"/>
          <p:nvPr/>
        </p:nvSpPr>
        <p:spPr>
          <a:xfrm>
            <a:off x="731520" y="1371600"/>
            <a:ext cx="9144000" cy="307777"/>
          </a:xfrm>
          <a:prstGeom prst="rect">
            <a:avLst/>
          </a:prstGeom>
          <a:noFill/>
        </p:spPr>
        <p:txBody>
          <a:bodyPr wrap="square">
            <a:spAutoFit/>
          </a:bodyPr>
          <a:lstStyle/>
          <a:p>
            <a:pPr algn="l">
              <a:defRPr sz="1400" b="0">
                <a:solidFill>
                  <a:srgbClr val="8B949E"/>
                </a:solidFill>
                <a:latin typeface="Segoe UI"/>
              </a:defRPr>
            </a:pPr>
            <a:r>
              <a:rPr dirty="0"/>
              <a:t>Built with GitHub Copilot SDK  </a:t>
            </a:r>
          </a:p>
        </p:txBody>
      </p:sp>
      <p:sp>
        <p:nvSpPr>
          <p:cNvPr id="6" name="Rectangle 5"/>
          <p:cNvSpPr/>
          <p:nvPr/>
        </p:nvSpPr>
        <p:spPr>
          <a:xfrm>
            <a:off x="731520" y="2011680"/>
            <a:ext cx="10698480" cy="12700"/>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286000"/>
            <a:ext cx="3291840" cy="1645920"/>
          </a:xfrm>
          <a:prstGeom prst="roundRect">
            <a:avLst>
              <a:gd name="adj" fmla="val 4000"/>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468880"/>
            <a:ext cx="2743200" cy="365760"/>
          </a:xfrm>
          <a:prstGeom prst="rect">
            <a:avLst/>
          </a:prstGeom>
          <a:noFill/>
        </p:spPr>
        <p:txBody>
          <a:bodyPr wrap="square">
            <a:spAutoFit/>
          </a:bodyPr>
          <a:lstStyle/>
          <a:p>
            <a:pPr algn="l">
              <a:defRPr sz="1100" b="0">
                <a:solidFill>
                  <a:srgbClr val="8B949E"/>
                </a:solidFill>
                <a:latin typeface="Segoe UI"/>
              </a:defRPr>
            </a:pPr>
            <a:r>
              <a:t>Review Time</a:t>
            </a:r>
          </a:p>
        </p:txBody>
      </p:sp>
      <p:sp>
        <p:nvSpPr>
          <p:cNvPr id="9" name="TextBox 8"/>
          <p:cNvSpPr txBox="1"/>
          <p:nvPr/>
        </p:nvSpPr>
        <p:spPr>
          <a:xfrm>
            <a:off x="1005840" y="2834640"/>
            <a:ext cx="2743200" cy="822960"/>
          </a:xfrm>
          <a:prstGeom prst="rect">
            <a:avLst/>
          </a:prstGeom>
          <a:noFill/>
        </p:spPr>
        <p:txBody>
          <a:bodyPr wrap="square">
            <a:spAutoFit/>
          </a:bodyPr>
          <a:lstStyle/>
          <a:p>
            <a:r>
              <a:rPr sz="1400">
                <a:solidFill>
                  <a:srgbClr val="8B949E"/>
                </a:solidFill>
                <a:latin typeface="Segoe UI"/>
              </a:rPr>
              <a:t>3-5 days  →  </a:t>
            </a:r>
            <a:r>
              <a:rPr sz="2800" b="1">
                <a:solidFill>
                  <a:srgbClr val="3FB950"/>
                </a:solidFill>
                <a:latin typeface="Segoe UI"/>
              </a:rPr>
              <a:t>30 sec</a:t>
            </a:r>
          </a:p>
        </p:txBody>
      </p:sp>
      <p:sp>
        <p:nvSpPr>
          <p:cNvPr id="10" name="Rounded Rectangle 9"/>
          <p:cNvSpPr/>
          <p:nvPr/>
        </p:nvSpPr>
        <p:spPr>
          <a:xfrm>
            <a:off x="4389120" y="2286000"/>
            <a:ext cx="3291840" cy="1645920"/>
          </a:xfrm>
          <a:prstGeom prst="roundRect">
            <a:avLst>
              <a:gd name="adj" fmla="val 4000"/>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2468880"/>
            <a:ext cx="2743200" cy="365760"/>
          </a:xfrm>
          <a:prstGeom prst="rect">
            <a:avLst/>
          </a:prstGeom>
          <a:noFill/>
        </p:spPr>
        <p:txBody>
          <a:bodyPr wrap="square">
            <a:spAutoFit/>
          </a:bodyPr>
          <a:lstStyle/>
          <a:p>
            <a:pPr algn="l">
              <a:defRPr sz="1100" b="0">
                <a:solidFill>
                  <a:srgbClr val="8B949E"/>
                </a:solidFill>
                <a:latin typeface="Segoe UI"/>
              </a:defRPr>
            </a:pPr>
            <a:r>
              <a:t>Violation Detection</a:t>
            </a:r>
          </a:p>
        </p:txBody>
      </p:sp>
      <p:sp>
        <p:nvSpPr>
          <p:cNvPr id="12" name="TextBox 11"/>
          <p:cNvSpPr txBox="1"/>
          <p:nvPr/>
        </p:nvSpPr>
        <p:spPr>
          <a:xfrm>
            <a:off x="4663440" y="2834640"/>
            <a:ext cx="2743200" cy="822960"/>
          </a:xfrm>
          <a:prstGeom prst="rect">
            <a:avLst/>
          </a:prstGeom>
          <a:noFill/>
        </p:spPr>
        <p:txBody>
          <a:bodyPr wrap="square">
            <a:spAutoFit/>
          </a:bodyPr>
          <a:lstStyle/>
          <a:p>
            <a:r>
              <a:rPr sz="1400">
                <a:solidFill>
                  <a:srgbClr val="8B949E"/>
                </a:solidFill>
                <a:latin typeface="Segoe UI"/>
              </a:rPr>
              <a:t>~60%  →  </a:t>
            </a:r>
            <a:r>
              <a:rPr sz="2800" b="1">
                <a:solidFill>
                  <a:srgbClr val="58A6FF"/>
                </a:solidFill>
                <a:latin typeface="Segoe UI"/>
              </a:rPr>
              <a:t>95%</a:t>
            </a:r>
          </a:p>
        </p:txBody>
      </p:sp>
      <p:sp>
        <p:nvSpPr>
          <p:cNvPr id="13" name="Rounded Rectangle 12"/>
          <p:cNvSpPr/>
          <p:nvPr/>
        </p:nvSpPr>
        <p:spPr>
          <a:xfrm>
            <a:off x="8046720" y="2286000"/>
            <a:ext cx="3291840" cy="1645920"/>
          </a:xfrm>
          <a:prstGeom prst="roundRect">
            <a:avLst>
              <a:gd name="adj" fmla="val 4000"/>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2468880"/>
            <a:ext cx="2743200" cy="365760"/>
          </a:xfrm>
          <a:prstGeom prst="rect">
            <a:avLst/>
          </a:prstGeom>
          <a:noFill/>
        </p:spPr>
        <p:txBody>
          <a:bodyPr wrap="square">
            <a:spAutoFit/>
          </a:bodyPr>
          <a:lstStyle/>
          <a:p>
            <a:pPr algn="l">
              <a:defRPr sz="1100" b="0">
                <a:solidFill>
                  <a:srgbClr val="8B949E"/>
                </a:solidFill>
                <a:latin typeface="Segoe UI"/>
              </a:defRPr>
            </a:pPr>
            <a:r>
              <a:t>Audit Coverage</a:t>
            </a:r>
          </a:p>
        </p:txBody>
      </p:sp>
      <p:sp>
        <p:nvSpPr>
          <p:cNvPr id="15" name="TextBox 14"/>
          <p:cNvSpPr txBox="1"/>
          <p:nvPr/>
        </p:nvSpPr>
        <p:spPr>
          <a:xfrm>
            <a:off x="8321040" y="2834640"/>
            <a:ext cx="2743200" cy="822960"/>
          </a:xfrm>
          <a:prstGeom prst="rect">
            <a:avLst/>
          </a:prstGeom>
          <a:noFill/>
        </p:spPr>
        <p:txBody>
          <a:bodyPr wrap="square">
            <a:spAutoFit/>
          </a:bodyPr>
          <a:lstStyle/>
          <a:p>
            <a:r>
              <a:rPr sz="1400">
                <a:solidFill>
                  <a:srgbClr val="8B949E"/>
                </a:solidFill>
                <a:latin typeface="Segoe UI"/>
              </a:rPr>
              <a:t>Manual  →  </a:t>
            </a:r>
            <a:r>
              <a:rPr sz="2800" b="1">
                <a:solidFill>
                  <a:srgbClr val="D29922"/>
                </a:solidFill>
                <a:latin typeface="Segoe UI"/>
              </a:rPr>
              <a:t>100%</a:t>
            </a:r>
          </a:p>
        </p:txBody>
      </p:sp>
      <p:sp>
        <p:nvSpPr>
          <p:cNvPr id="16" name="TextBox 15"/>
          <p:cNvSpPr txBox="1"/>
          <p:nvPr/>
        </p:nvSpPr>
        <p:spPr>
          <a:xfrm>
            <a:off x="731520" y="4206240"/>
            <a:ext cx="5029200" cy="274320"/>
          </a:xfrm>
          <a:prstGeom prst="rect">
            <a:avLst/>
          </a:prstGeom>
          <a:noFill/>
        </p:spPr>
        <p:txBody>
          <a:bodyPr wrap="square">
            <a:spAutoFit/>
          </a:bodyPr>
          <a:lstStyle/>
          <a:p>
            <a:pPr algn="l">
              <a:defRPr sz="1100" b="1">
                <a:solidFill>
                  <a:srgbClr val="F85149"/>
                </a:solidFill>
                <a:latin typeface="Segoe UI"/>
              </a:defRPr>
            </a:pPr>
            <a:r>
              <a:t>THE PROBLEM</a:t>
            </a:r>
          </a:p>
        </p:txBody>
      </p:sp>
      <p:sp>
        <p:nvSpPr>
          <p:cNvPr id="17" name="TextBox 16"/>
          <p:cNvSpPr txBox="1"/>
          <p:nvPr/>
        </p:nvSpPr>
        <p:spPr>
          <a:xfrm>
            <a:off x="731520" y="4526280"/>
            <a:ext cx="5029200" cy="1097280"/>
          </a:xfrm>
          <a:prstGeom prst="rect">
            <a:avLst/>
          </a:prstGeom>
          <a:noFill/>
        </p:spPr>
        <p:txBody>
          <a:bodyPr wrap="square">
            <a:spAutoFit/>
          </a:bodyPr>
          <a:lstStyle/>
          <a:p>
            <a:pPr algn="l">
              <a:defRPr sz="1300" b="0">
                <a:solidFill>
                  <a:srgbClr val="C9D1D9"/>
                </a:solidFill>
                <a:latin typeface="Segoe UI"/>
              </a:defRPr>
            </a:pPr>
            <a:r>
              <a:t>Manual compliance reviews create a 3-5 day bottleneck on every pull request. Engineering teams either skip reviews (risk) or wait days for approval (velocity loss). Audit trails are incomplete, inconsistent, and not exportable.</a:t>
            </a:r>
          </a:p>
        </p:txBody>
      </p:sp>
      <p:sp>
        <p:nvSpPr>
          <p:cNvPr id="18" name="TextBox 17"/>
          <p:cNvSpPr txBox="1"/>
          <p:nvPr/>
        </p:nvSpPr>
        <p:spPr>
          <a:xfrm>
            <a:off x="6400800" y="4206240"/>
            <a:ext cx="5029200" cy="274320"/>
          </a:xfrm>
          <a:prstGeom prst="rect">
            <a:avLst/>
          </a:prstGeom>
          <a:noFill/>
        </p:spPr>
        <p:txBody>
          <a:bodyPr wrap="square">
            <a:spAutoFit/>
          </a:bodyPr>
          <a:lstStyle/>
          <a:p>
            <a:pPr algn="l">
              <a:defRPr sz="1100" b="1">
                <a:solidFill>
                  <a:srgbClr val="3FB950"/>
                </a:solidFill>
                <a:latin typeface="Segoe UI"/>
              </a:defRPr>
            </a:pPr>
            <a:r>
              <a:t>THE SOLUTION</a:t>
            </a:r>
          </a:p>
        </p:txBody>
      </p:sp>
      <p:sp>
        <p:nvSpPr>
          <p:cNvPr id="19" name="TextBox 18"/>
          <p:cNvSpPr txBox="1"/>
          <p:nvPr/>
        </p:nvSpPr>
        <p:spPr>
          <a:xfrm>
            <a:off x="6400800" y="4526280"/>
            <a:ext cx="5029200" cy="1280160"/>
          </a:xfrm>
          <a:prstGeom prst="rect">
            <a:avLst/>
          </a:prstGeom>
          <a:noFill/>
        </p:spPr>
        <p:txBody>
          <a:bodyPr wrap="square">
            <a:spAutoFit/>
          </a:bodyPr>
          <a:lstStyle/>
          <a:p>
            <a:pPr algn="l">
              <a:defRPr sz="1300" b="0">
                <a:solidFill>
                  <a:srgbClr val="C9D1D9"/>
                </a:solidFill>
                <a:latin typeface="Segoe UI"/>
              </a:defRPr>
            </a:pPr>
            <a:r>
              <a:t>Compliance Copilot uses the GitHub Copilot SDK to automatically review every PR against SOC 2 Type II and HIPAA controls. The agent posts structured findings with severity ratings, control references, and remediation guidance. Every review is recorded in Fabric IQ for audit dashboards and compliance trending.</a:t>
            </a:r>
          </a:p>
        </p:txBody>
      </p:sp>
      <p:sp>
        <p:nvSpPr>
          <p:cNvPr id="20" name="TextBox 19"/>
          <p:cNvSpPr txBox="1"/>
          <p:nvPr/>
        </p:nvSpPr>
        <p:spPr>
          <a:xfrm>
            <a:off x="731520" y="5852160"/>
            <a:ext cx="9144000" cy="274320"/>
          </a:xfrm>
          <a:prstGeom prst="rect">
            <a:avLst/>
          </a:prstGeom>
          <a:noFill/>
        </p:spPr>
        <p:txBody>
          <a:bodyPr wrap="square">
            <a:spAutoFit/>
          </a:bodyPr>
          <a:lstStyle/>
          <a:p>
            <a:pPr algn="l">
              <a:defRPr sz="1100" b="1">
                <a:solidFill>
                  <a:srgbClr val="58A6FF"/>
                </a:solidFill>
                <a:latin typeface="Segoe UI"/>
              </a:defRPr>
            </a:pPr>
            <a:r>
              <a:t>HOW IT WORKS</a:t>
            </a:r>
          </a:p>
        </p:txBody>
      </p:sp>
      <p:sp>
        <p:nvSpPr>
          <p:cNvPr id="21" name="Oval 20"/>
          <p:cNvSpPr/>
          <p:nvPr/>
        </p:nvSpPr>
        <p:spPr>
          <a:xfrm>
            <a:off x="731520" y="6172200"/>
            <a:ext cx="320040" cy="3200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a:t>
            </a:r>
          </a:p>
        </p:txBody>
      </p:sp>
      <p:sp>
        <p:nvSpPr>
          <p:cNvPr id="22" name="TextBox 21"/>
          <p:cNvSpPr txBox="1"/>
          <p:nvPr/>
        </p:nvSpPr>
        <p:spPr>
          <a:xfrm>
            <a:off x="1188720" y="6144768"/>
            <a:ext cx="2194560" cy="274320"/>
          </a:xfrm>
          <a:prstGeom prst="rect">
            <a:avLst/>
          </a:prstGeom>
          <a:noFill/>
        </p:spPr>
        <p:txBody>
          <a:bodyPr wrap="square">
            <a:spAutoFit/>
          </a:bodyPr>
          <a:lstStyle/>
          <a:p>
            <a:pPr algn="l">
              <a:defRPr sz="1300" b="1">
                <a:solidFill>
                  <a:srgbClr val="FFFFFF"/>
                </a:solidFill>
                <a:latin typeface="Segoe UI"/>
              </a:defRPr>
            </a:pPr>
            <a:r>
              <a:t>PR Opened</a:t>
            </a:r>
          </a:p>
        </p:txBody>
      </p:sp>
      <p:sp>
        <p:nvSpPr>
          <p:cNvPr id="23" name="TextBox 22"/>
          <p:cNvSpPr txBox="1"/>
          <p:nvPr/>
        </p:nvSpPr>
        <p:spPr>
          <a:xfrm>
            <a:off x="1188720" y="6382512"/>
            <a:ext cx="2194560" cy="274320"/>
          </a:xfrm>
          <a:prstGeom prst="rect">
            <a:avLst/>
          </a:prstGeom>
          <a:noFill/>
        </p:spPr>
        <p:txBody>
          <a:bodyPr wrap="square">
            <a:spAutoFit/>
          </a:bodyPr>
          <a:lstStyle/>
          <a:p>
            <a:pPr algn="l">
              <a:defRPr sz="1100" b="0">
                <a:solidFill>
                  <a:srgbClr val="8B949E"/>
                </a:solidFill>
                <a:latin typeface="Segoe UI"/>
              </a:defRPr>
            </a:pPr>
            <a:r>
              <a:t>Webhook triggers agent</a:t>
            </a:r>
          </a:p>
        </p:txBody>
      </p:sp>
      <p:sp>
        <p:nvSpPr>
          <p:cNvPr id="24" name="Oval 23"/>
          <p:cNvSpPr/>
          <p:nvPr/>
        </p:nvSpPr>
        <p:spPr>
          <a:xfrm>
            <a:off x="3566160" y="6172200"/>
            <a:ext cx="320040" cy="3200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2</a:t>
            </a:r>
          </a:p>
        </p:txBody>
      </p:sp>
      <p:sp>
        <p:nvSpPr>
          <p:cNvPr id="25" name="TextBox 24"/>
          <p:cNvSpPr txBox="1"/>
          <p:nvPr/>
        </p:nvSpPr>
        <p:spPr>
          <a:xfrm>
            <a:off x="4023360" y="6144768"/>
            <a:ext cx="2194560" cy="274320"/>
          </a:xfrm>
          <a:prstGeom prst="rect">
            <a:avLst/>
          </a:prstGeom>
          <a:noFill/>
        </p:spPr>
        <p:txBody>
          <a:bodyPr wrap="square">
            <a:spAutoFit/>
          </a:bodyPr>
          <a:lstStyle/>
          <a:p>
            <a:pPr algn="l">
              <a:defRPr sz="1300" b="1">
                <a:solidFill>
                  <a:srgbClr val="FFFFFF"/>
                </a:solidFill>
                <a:latin typeface="Segoe UI"/>
              </a:defRPr>
            </a:pPr>
            <a:r>
              <a:t>Agent Analyzes</a:t>
            </a:r>
          </a:p>
        </p:txBody>
      </p:sp>
      <p:sp>
        <p:nvSpPr>
          <p:cNvPr id="26" name="TextBox 25"/>
          <p:cNvSpPr txBox="1"/>
          <p:nvPr/>
        </p:nvSpPr>
        <p:spPr>
          <a:xfrm>
            <a:off x="4023360" y="6382512"/>
            <a:ext cx="2194560" cy="274320"/>
          </a:xfrm>
          <a:prstGeom prst="rect">
            <a:avLst/>
          </a:prstGeom>
          <a:noFill/>
        </p:spPr>
        <p:txBody>
          <a:bodyPr wrap="square">
            <a:spAutoFit/>
          </a:bodyPr>
          <a:lstStyle/>
          <a:p>
            <a:pPr algn="l">
              <a:defRPr sz="1100" b="0">
                <a:solidFill>
                  <a:srgbClr val="8B949E"/>
                </a:solidFill>
                <a:latin typeface="Segoe UI"/>
              </a:defRPr>
            </a:pPr>
            <a:r>
              <a:t>5 custom tools via Copilot SDK</a:t>
            </a:r>
          </a:p>
        </p:txBody>
      </p:sp>
      <p:sp>
        <p:nvSpPr>
          <p:cNvPr id="27" name="Oval 26"/>
          <p:cNvSpPr/>
          <p:nvPr/>
        </p:nvSpPr>
        <p:spPr>
          <a:xfrm>
            <a:off x="6400800" y="6172200"/>
            <a:ext cx="320040" cy="3200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3</a:t>
            </a:r>
          </a:p>
        </p:txBody>
      </p:sp>
      <p:sp>
        <p:nvSpPr>
          <p:cNvPr id="28" name="TextBox 27"/>
          <p:cNvSpPr txBox="1"/>
          <p:nvPr/>
        </p:nvSpPr>
        <p:spPr>
          <a:xfrm>
            <a:off x="6858000" y="6144768"/>
            <a:ext cx="2194560" cy="274320"/>
          </a:xfrm>
          <a:prstGeom prst="rect">
            <a:avLst/>
          </a:prstGeom>
          <a:noFill/>
        </p:spPr>
        <p:txBody>
          <a:bodyPr wrap="square">
            <a:spAutoFit/>
          </a:bodyPr>
          <a:lstStyle/>
          <a:p>
            <a:pPr algn="l">
              <a:defRPr sz="1300" b="1">
                <a:solidFill>
                  <a:srgbClr val="FFFFFF"/>
                </a:solidFill>
                <a:latin typeface="Segoe UI"/>
              </a:defRPr>
            </a:pPr>
            <a:r>
              <a:t>Review Posted</a:t>
            </a:r>
          </a:p>
        </p:txBody>
      </p:sp>
      <p:sp>
        <p:nvSpPr>
          <p:cNvPr id="29" name="TextBox 28"/>
          <p:cNvSpPr txBox="1"/>
          <p:nvPr/>
        </p:nvSpPr>
        <p:spPr>
          <a:xfrm>
            <a:off x="6858000" y="6382512"/>
            <a:ext cx="2194560" cy="274320"/>
          </a:xfrm>
          <a:prstGeom prst="rect">
            <a:avLst/>
          </a:prstGeom>
          <a:noFill/>
        </p:spPr>
        <p:txBody>
          <a:bodyPr wrap="square">
            <a:spAutoFit/>
          </a:bodyPr>
          <a:lstStyle/>
          <a:p>
            <a:pPr algn="l">
              <a:defRPr sz="1100" b="0">
                <a:solidFill>
                  <a:srgbClr val="8B949E"/>
                </a:solidFill>
                <a:latin typeface="Segoe UI"/>
              </a:defRPr>
            </a:pPr>
            <a:r>
              <a:t>Structured findings + score</a:t>
            </a:r>
          </a:p>
        </p:txBody>
      </p:sp>
      <p:sp>
        <p:nvSpPr>
          <p:cNvPr id="30" name="Oval 29"/>
          <p:cNvSpPr/>
          <p:nvPr/>
        </p:nvSpPr>
        <p:spPr>
          <a:xfrm>
            <a:off x="9235440" y="6172200"/>
            <a:ext cx="320040" cy="3200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4</a:t>
            </a:r>
          </a:p>
        </p:txBody>
      </p:sp>
      <p:sp>
        <p:nvSpPr>
          <p:cNvPr id="31" name="TextBox 30"/>
          <p:cNvSpPr txBox="1"/>
          <p:nvPr/>
        </p:nvSpPr>
        <p:spPr>
          <a:xfrm>
            <a:off x="9692640" y="6144768"/>
            <a:ext cx="2194560" cy="274320"/>
          </a:xfrm>
          <a:prstGeom prst="rect">
            <a:avLst/>
          </a:prstGeom>
          <a:noFill/>
        </p:spPr>
        <p:txBody>
          <a:bodyPr wrap="square">
            <a:spAutoFit/>
          </a:bodyPr>
          <a:lstStyle/>
          <a:p>
            <a:pPr algn="l">
              <a:defRPr sz="1300" b="1">
                <a:solidFill>
                  <a:srgbClr val="FFFFFF"/>
                </a:solidFill>
                <a:latin typeface="Segoe UI"/>
              </a:defRPr>
            </a:pPr>
            <a:r>
              <a:t>Audit Stored</a:t>
            </a:r>
          </a:p>
        </p:txBody>
      </p:sp>
      <p:sp>
        <p:nvSpPr>
          <p:cNvPr id="32" name="TextBox 31"/>
          <p:cNvSpPr txBox="1"/>
          <p:nvPr/>
        </p:nvSpPr>
        <p:spPr>
          <a:xfrm>
            <a:off x="9692640" y="6382512"/>
            <a:ext cx="2194560" cy="274320"/>
          </a:xfrm>
          <a:prstGeom prst="rect">
            <a:avLst/>
          </a:prstGeom>
          <a:noFill/>
        </p:spPr>
        <p:txBody>
          <a:bodyPr wrap="square">
            <a:spAutoFit/>
          </a:bodyPr>
          <a:lstStyle/>
          <a:p>
            <a:pPr algn="l">
              <a:defRPr sz="1100" b="0">
                <a:solidFill>
                  <a:srgbClr val="8B949E"/>
                </a:solidFill>
                <a:latin typeface="Segoe UI"/>
              </a:defRPr>
            </a:pPr>
            <a:r>
              <a:t>Fabric IQ dashboard + export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365760"/>
          </a:xfrm>
          <a:prstGeom prst="rect">
            <a:avLst/>
          </a:prstGeom>
          <a:noFill/>
        </p:spPr>
        <p:txBody>
          <a:bodyPr wrap="square">
            <a:spAutoFit/>
          </a:bodyPr>
          <a:lstStyle/>
          <a:p>
            <a:pPr algn="l">
              <a:defRPr sz="1200" b="1">
                <a:solidFill>
                  <a:srgbClr val="58A6FF"/>
                </a:solidFill>
                <a:latin typeface="Segoe UI"/>
              </a:defRPr>
            </a:pPr>
            <a:r>
              <a:t>ARCHITECTURE</a:t>
            </a:r>
          </a:p>
        </p:txBody>
      </p:sp>
      <p:sp>
        <p:nvSpPr>
          <p:cNvPr id="4" name="TextBox 3"/>
          <p:cNvSpPr txBox="1"/>
          <p:nvPr/>
        </p:nvSpPr>
        <p:spPr>
          <a:xfrm>
            <a:off x="731520" y="685800"/>
            <a:ext cx="9144000" cy="640080"/>
          </a:xfrm>
          <a:prstGeom prst="rect">
            <a:avLst/>
          </a:prstGeom>
          <a:noFill/>
        </p:spPr>
        <p:txBody>
          <a:bodyPr wrap="square">
            <a:spAutoFit/>
          </a:bodyPr>
          <a:lstStyle/>
          <a:p>
            <a:pPr algn="l">
              <a:defRPr sz="2800" b="1">
                <a:solidFill>
                  <a:srgbClr val="FFFFFF"/>
                </a:solidFill>
                <a:latin typeface="Segoe UI"/>
              </a:defRPr>
            </a:pPr>
            <a:r>
              <a:t>Azure-First Enterprise Architecture</a:t>
            </a:r>
          </a:p>
        </p:txBody>
      </p:sp>
      <p:sp>
        <p:nvSpPr>
          <p:cNvPr id="5" name="Rounded Rectangle 4"/>
          <p:cNvSpPr/>
          <p:nvPr/>
        </p:nvSpPr>
        <p:spPr>
          <a:xfrm>
            <a:off x="731520" y="1463040"/>
            <a:ext cx="7132320" cy="4754880"/>
          </a:xfrm>
          <a:prstGeom prst="roundRect">
            <a:avLst>
              <a:gd name="adj" fmla="val 2000"/>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1828800"/>
            <a:ext cx="5486400" cy="228600"/>
          </a:xfrm>
          <a:prstGeom prst="rect">
            <a:avLst/>
          </a:prstGeom>
          <a:noFill/>
        </p:spPr>
        <p:txBody>
          <a:bodyPr wrap="square">
            <a:spAutoFit/>
          </a:bodyPr>
          <a:lstStyle/>
          <a:p>
            <a:pPr algn="l">
              <a:defRPr sz="1200" b="0">
                <a:solidFill>
                  <a:srgbClr val="58A6FF"/>
                </a:solidFill>
                <a:latin typeface="Consolas"/>
              </a:defRPr>
            </a:pPr>
            <a:r>
              <a:t>GitHub PR</a:t>
            </a:r>
          </a:p>
        </p:txBody>
      </p:sp>
      <p:sp>
        <p:nvSpPr>
          <p:cNvPr id="7" name="TextBox 6"/>
          <p:cNvSpPr txBox="1"/>
          <p:nvPr/>
        </p:nvSpPr>
        <p:spPr>
          <a:xfrm>
            <a:off x="1645920" y="2148840"/>
            <a:ext cx="5486400" cy="228600"/>
          </a:xfrm>
          <a:prstGeom prst="rect">
            <a:avLst/>
          </a:prstGeom>
          <a:noFill/>
        </p:spPr>
        <p:txBody>
          <a:bodyPr wrap="square">
            <a:spAutoFit/>
          </a:bodyPr>
          <a:lstStyle/>
          <a:p>
            <a:pPr algn="l">
              <a:defRPr sz="1200" b="0">
                <a:solidFill>
                  <a:srgbClr val="8B949E"/>
                </a:solidFill>
                <a:latin typeface="Consolas"/>
              </a:defRPr>
            </a:pPr>
            <a:r>
              <a:t>     │  webhook (HMAC-SHA256)</a:t>
            </a:r>
          </a:p>
        </p:txBody>
      </p:sp>
      <p:sp>
        <p:nvSpPr>
          <p:cNvPr id="8" name="TextBox 7"/>
          <p:cNvSpPr txBox="1"/>
          <p:nvPr/>
        </p:nvSpPr>
        <p:spPr>
          <a:xfrm>
            <a:off x="1645920" y="2377440"/>
            <a:ext cx="5486400" cy="228600"/>
          </a:xfrm>
          <a:prstGeom prst="rect">
            <a:avLst/>
          </a:prstGeom>
          <a:noFill/>
        </p:spPr>
        <p:txBody>
          <a:bodyPr wrap="square">
            <a:spAutoFit/>
          </a:bodyPr>
          <a:lstStyle/>
          <a:p>
            <a:pPr algn="l">
              <a:defRPr sz="1200" b="0">
                <a:solidFill>
                  <a:srgbClr val="8B949E"/>
                </a:solidFill>
                <a:latin typeface="Consolas"/>
              </a:defRPr>
            </a:pPr>
            <a:r>
              <a:t>     ▼</a:t>
            </a:r>
          </a:p>
        </p:txBody>
      </p:sp>
      <p:sp>
        <p:nvSpPr>
          <p:cNvPr id="9" name="TextBox 8"/>
          <p:cNvSpPr txBox="1"/>
          <p:nvPr/>
        </p:nvSpPr>
        <p:spPr>
          <a:xfrm>
            <a:off x="1645920" y="2606040"/>
            <a:ext cx="5486400" cy="228600"/>
          </a:xfrm>
          <a:prstGeom prst="rect">
            <a:avLst/>
          </a:prstGeom>
          <a:noFill/>
        </p:spPr>
        <p:txBody>
          <a:bodyPr wrap="square">
            <a:spAutoFit/>
          </a:bodyPr>
          <a:lstStyle/>
          <a:p>
            <a:pPr algn="l">
              <a:defRPr sz="1200" b="0">
                <a:solidFill>
                  <a:srgbClr val="3FB950"/>
                </a:solidFill>
                <a:latin typeface="Consolas"/>
              </a:defRPr>
            </a:pPr>
            <a:r>
              <a:t>Express Server  (Azure Container Apps)</a:t>
            </a:r>
          </a:p>
        </p:txBody>
      </p:sp>
      <p:sp>
        <p:nvSpPr>
          <p:cNvPr id="10" name="TextBox 9"/>
          <p:cNvSpPr txBox="1"/>
          <p:nvPr/>
        </p:nvSpPr>
        <p:spPr>
          <a:xfrm>
            <a:off x="1645920" y="2834640"/>
            <a:ext cx="5486400" cy="228600"/>
          </a:xfrm>
          <a:prstGeom prst="rect">
            <a:avLst/>
          </a:prstGeom>
          <a:noFill/>
        </p:spPr>
        <p:txBody>
          <a:bodyPr wrap="square">
            <a:spAutoFit/>
          </a:bodyPr>
          <a:lstStyle/>
          <a:p>
            <a:pPr algn="l">
              <a:defRPr sz="1200" b="0">
                <a:solidFill>
                  <a:srgbClr val="8B949E"/>
                </a:solidFill>
                <a:latin typeface="Consolas"/>
              </a:defRPr>
            </a:pPr>
            <a:r>
              <a:t>     │</a:t>
            </a:r>
          </a:p>
        </p:txBody>
      </p:sp>
      <p:sp>
        <p:nvSpPr>
          <p:cNvPr id="11" name="TextBox 10"/>
          <p:cNvSpPr txBox="1"/>
          <p:nvPr/>
        </p:nvSpPr>
        <p:spPr>
          <a:xfrm>
            <a:off x="1645920" y="3017520"/>
            <a:ext cx="5486400" cy="228600"/>
          </a:xfrm>
          <a:prstGeom prst="rect">
            <a:avLst/>
          </a:prstGeom>
          <a:noFill/>
        </p:spPr>
        <p:txBody>
          <a:bodyPr wrap="square">
            <a:spAutoFit/>
          </a:bodyPr>
          <a:lstStyle/>
          <a:p>
            <a:pPr algn="l">
              <a:defRPr sz="1200" b="0">
                <a:solidFill>
                  <a:srgbClr val="8B949E"/>
                </a:solidFill>
                <a:latin typeface="Consolas"/>
              </a:defRPr>
            </a:pPr>
            <a:r>
              <a:t>     ▼</a:t>
            </a:r>
          </a:p>
        </p:txBody>
      </p:sp>
      <p:sp>
        <p:nvSpPr>
          <p:cNvPr id="12" name="TextBox 11"/>
          <p:cNvSpPr txBox="1"/>
          <p:nvPr/>
        </p:nvSpPr>
        <p:spPr>
          <a:xfrm>
            <a:off x="1645920" y="3246120"/>
            <a:ext cx="5486400" cy="228600"/>
          </a:xfrm>
          <a:prstGeom prst="rect">
            <a:avLst/>
          </a:prstGeom>
          <a:noFill/>
        </p:spPr>
        <p:txBody>
          <a:bodyPr wrap="square">
            <a:spAutoFit/>
          </a:bodyPr>
          <a:lstStyle/>
          <a:p>
            <a:pPr algn="l">
              <a:defRPr sz="1200" b="0">
                <a:solidFill>
                  <a:srgbClr val="D29922"/>
                </a:solidFill>
                <a:latin typeface="Consolas"/>
              </a:defRPr>
            </a:pPr>
            <a:r>
              <a:t>Copilot SDK Agent  (gpt-4.1)</a:t>
            </a:r>
          </a:p>
        </p:txBody>
      </p:sp>
      <p:sp>
        <p:nvSpPr>
          <p:cNvPr id="13" name="TextBox 12"/>
          <p:cNvSpPr txBox="1"/>
          <p:nvPr/>
        </p:nvSpPr>
        <p:spPr>
          <a:xfrm>
            <a:off x="1645920" y="3520440"/>
            <a:ext cx="5486400" cy="228600"/>
          </a:xfrm>
          <a:prstGeom prst="rect">
            <a:avLst/>
          </a:prstGeom>
          <a:noFill/>
        </p:spPr>
        <p:txBody>
          <a:bodyPr wrap="square">
            <a:spAutoFit/>
          </a:bodyPr>
          <a:lstStyle/>
          <a:p>
            <a:pPr algn="l">
              <a:defRPr sz="1200" b="0">
                <a:solidFill>
                  <a:srgbClr val="8B949E"/>
                </a:solidFill>
                <a:latin typeface="Consolas"/>
              </a:defRPr>
            </a:pPr>
            <a:r>
              <a:t>  ┌──────┬──────┬──────┬──────┐</a:t>
            </a:r>
          </a:p>
        </p:txBody>
      </p:sp>
      <p:sp>
        <p:nvSpPr>
          <p:cNvPr id="14" name="TextBox 13"/>
          <p:cNvSpPr txBox="1"/>
          <p:nvPr/>
        </p:nvSpPr>
        <p:spPr>
          <a:xfrm>
            <a:off x="1645920" y="3703320"/>
            <a:ext cx="5486400" cy="228600"/>
          </a:xfrm>
          <a:prstGeom prst="rect">
            <a:avLst/>
          </a:prstGeom>
          <a:noFill/>
        </p:spPr>
        <p:txBody>
          <a:bodyPr wrap="square">
            <a:spAutoFit/>
          </a:bodyPr>
          <a:lstStyle/>
          <a:p>
            <a:pPr algn="l">
              <a:defRPr sz="1200" b="0">
                <a:solidFill>
                  <a:srgbClr val="8B949E"/>
                </a:solidFill>
                <a:latin typeface="Consolas"/>
              </a:defRPr>
            </a:pPr>
            <a:r>
              <a:t>  │      │      │      │      │</a:t>
            </a:r>
          </a:p>
        </p:txBody>
      </p:sp>
      <p:sp>
        <p:nvSpPr>
          <p:cNvPr id="15" name="Rounded Rectangle 14"/>
          <p:cNvSpPr/>
          <p:nvPr/>
        </p:nvSpPr>
        <p:spPr>
          <a:xfrm>
            <a:off x="1097280" y="3931920"/>
            <a:ext cx="1234440" cy="868680"/>
          </a:xfrm>
          <a:prstGeom prst="roundRect">
            <a:avLst>
              <a:gd name="adj" fmla="val 6000"/>
            </a:avLst>
          </a:prstGeom>
          <a:solidFill>
            <a:srgbClr val="21262D"/>
          </a:solidFill>
          <a:ln w="127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3977639"/>
            <a:ext cx="1097280" cy="411480"/>
          </a:xfrm>
          <a:prstGeom prst="rect">
            <a:avLst/>
          </a:prstGeom>
          <a:noFill/>
        </p:spPr>
        <p:txBody>
          <a:bodyPr wrap="square">
            <a:spAutoFit/>
          </a:bodyPr>
          <a:lstStyle/>
          <a:p>
            <a:pPr algn="l">
              <a:defRPr sz="800" b="1">
                <a:solidFill>
                  <a:srgbClr val="FFFFFF"/>
                </a:solidFill>
                <a:latin typeface="Consolas"/>
              </a:defRPr>
            </a:pPr>
            <a:r>
              <a:t>fetch_pr_diff</a:t>
            </a:r>
          </a:p>
        </p:txBody>
      </p:sp>
      <p:sp>
        <p:nvSpPr>
          <p:cNvPr id="17" name="TextBox 16"/>
          <p:cNvSpPr txBox="1"/>
          <p:nvPr/>
        </p:nvSpPr>
        <p:spPr>
          <a:xfrm>
            <a:off x="1170432" y="4343400"/>
            <a:ext cx="1097280" cy="274320"/>
          </a:xfrm>
          <a:prstGeom prst="rect">
            <a:avLst/>
          </a:prstGeom>
          <a:noFill/>
        </p:spPr>
        <p:txBody>
          <a:bodyPr wrap="square">
            <a:spAutoFit/>
          </a:bodyPr>
          <a:lstStyle/>
          <a:p>
            <a:pPr algn="l">
              <a:defRPr sz="800" b="0">
                <a:solidFill>
                  <a:srgbClr val="58A6FF"/>
                </a:solidFill>
                <a:latin typeface="Segoe UI"/>
              </a:defRPr>
            </a:pPr>
            <a:r>
              <a:t>GitHub API</a:t>
            </a:r>
          </a:p>
        </p:txBody>
      </p:sp>
      <p:sp>
        <p:nvSpPr>
          <p:cNvPr id="18" name="Rounded Rectangle 17"/>
          <p:cNvSpPr/>
          <p:nvPr/>
        </p:nvSpPr>
        <p:spPr>
          <a:xfrm>
            <a:off x="2423160" y="3931920"/>
            <a:ext cx="1234440" cy="868680"/>
          </a:xfrm>
          <a:prstGeom prst="roundRect">
            <a:avLst>
              <a:gd name="adj" fmla="val 6000"/>
            </a:avLst>
          </a:prstGeom>
          <a:solidFill>
            <a:srgbClr val="21262D"/>
          </a:solidFill>
          <a:ln w="127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96312" y="3977639"/>
            <a:ext cx="1097280" cy="411480"/>
          </a:xfrm>
          <a:prstGeom prst="rect">
            <a:avLst/>
          </a:prstGeom>
          <a:noFill/>
        </p:spPr>
        <p:txBody>
          <a:bodyPr wrap="square">
            <a:spAutoFit/>
          </a:bodyPr>
          <a:lstStyle/>
          <a:p>
            <a:pPr algn="l">
              <a:defRPr sz="800" b="1">
                <a:solidFill>
                  <a:srgbClr val="FFFFFF"/>
                </a:solidFill>
                <a:latin typeface="Consolas"/>
              </a:defRPr>
            </a:pPr>
            <a:r>
              <a:t>query_policies</a:t>
            </a:r>
          </a:p>
        </p:txBody>
      </p:sp>
      <p:sp>
        <p:nvSpPr>
          <p:cNvPr id="20" name="TextBox 19"/>
          <p:cNvSpPr txBox="1"/>
          <p:nvPr/>
        </p:nvSpPr>
        <p:spPr>
          <a:xfrm>
            <a:off x="2496312" y="4343400"/>
            <a:ext cx="1097280" cy="274320"/>
          </a:xfrm>
          <a:prstGeom prst="rect">
            <a:avLst/>
          </a:prstGeom>
          <a:noFill/>
        </p:spPr>
        <p:txBody>
          <a:bodyPr wrap="square">
            <a:spAutoFit/>
          </a:bodyPr>
          <a:lstStyle/>
          <a:p>
            <a:pPr algn="l">
              <a:defRPr sz="800" b="0">
                <a:solidFill>
                  <a:srgbClr val="58A6FF"/>
                </a:solidFill>
                <a:latin typeface="Segoe UI"/>
              </a:defRPr>
            </a:pPr>
            <a:r>
              <a:t>Work IQ</a:t>
            </a:r>
          </a:p>
        </p:txBody>
      </p:sp>
      <p:sp>
        <p:nvSpPr>
          <p:cNvPr id="21" name="Rounded Rectangle 20"/>
          <p:cNvSpPr/>
          <p:nvPr/>
        </p:nvSpPr>
        <p:spPr>
          <a:xfrm>
            <a:off x="3749039" y="3931920"/>
            <a:ext cx="1234440" cy="868680"/>
          </a:xfrm>
          <a:prstGeom prst="roundRect">
            <a:avLst>
              <a:gd name="adj" fmla="val 6000"/>
            </a:avLst>
          </a:prstGeom>
          <a:solidFill>
            <a:srgbClr val="21262D"/>
          </a:solidFill>
          <a:ln w="127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22191" y="3977639"/>
            <a:ext cx="1097280" cy="411480"/>
          </a:xfrm>
          <a:prstGeom prst="rect">
            <a:avLst/>
          </a:prstGeom>
          <a:noFill/>
        </p:spPr>
        <p:txBody>
          <a:bodyPr wrap="square">
            <a:spAutoFit/>
          </a:bodyPr>
          <a:lstStyle/>
          <a:p>
            <a:pPr algn="l">
              <a:defRPr sz="800" b="1">
                <a:solidFill>
                  <a:srgbClr val="FFFFFF"/>
                </a:solidFill>
                <a:latin typeface="Consolas"/>
              </a:defRPr>
            </a:pPr>
            <a:r>
              <a:t>classify_data</a:t>
            </a:r>
          </a:p>
        </p:txBody>
      </p:sp>
      <p:sp>
        <p:nvSpPr>
          <p:cNvPr id="23" name="TextBox 22"/>
          <p:cNvSpPr txBox="1"/>
          <p:nvPr/>
        </p:nvSpPr>
        <p:spPr>
          <a:xfrm>
            <a:off x="3822191" y="4343400"/>
            <a:ext cx="1097280" cy="274320"/>
          </a:xfrm>
          <a:prstGeom prst="rect">
            <a:avLst/>
          </a:prstGeom>
          <a:noFill/>
        </p:spPr>
        <p:txBody>
          <a:bodyPr wrap="square">
            <a:spAutoFit/>
          </a:bodyPr>
          <a:lstStyle/>
          <a:p>
            <a:pPr algn="l">
              <a:defRPr sz="800" b="0">
                <a:solidFill>
                  <a:srgbClr val="58A6FF"/>
                </a:solidFill>
                <a:latin typeface="Segoe UI"/>
              </a:defRPr>
            </a:pPr>
            <a:r>
              <a:t>Azure Purview</a:t>
            </a:r>
          </a:p>
        </p:txBody>
      </p:sp>
      <p:sp>
        <p:nvSpPr>
          <p:cNvPr id="24" name="Rounded Rectangle 23"/>
          <p:cNvSpPr/>
          <p:nvPr/>
        </p:nvSpPr>
        <p:spPr>
          <a:xfrm>
            <a:off x="5074920" y="3931920"/>
            <a:ext cx="1234440" cy="868680"/>
          </a:xfrm>
          <a:prstGeom prst="roundRect">
            <a:avLst>
              <a:gd name="adj" fmla="val 6000"/>
            </a:avLst>
          </a:prstGeom>
          <a:solidFill>
            <a:srgbClr val="21262D"/>
          </a:solidFill>
          <a:ln w="127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48072" y="3977639"/>
            <a:ext cx="1097280" cy="411480"/>
          </a:xfrm>
          <a:prstGeom prst="rect">
            <a:avLst/>
          </a:prstGeom>
          <a:noFill/>
        </p:spPr>
        <p:txBody>
          <a:bodyPr wrap="square">
            <a:spAutoFit/>
          </a:bodyPr>
          <a:lstStyle/>
          <a:p>
            <a:pPr algn="l">
              <a:defRPr sz="800" b="1">
                <a:solidFill>
                  <a:srgbClr val="FFFFFF"/>
                </a:solidFill>
                <a:latin typeface="Consolas"/>
              </a:defRPr>
            </a:pPr>
            <a:r>
              <a:t>check_exceptions</a:t>
            </a:r>
          </a:p>
        </p:txBody>
      </p:sp>
      <p:sp>
        <p:nvSpPr>
          <p:cNvPr id="26" name="TextBox 25"/>
          <p:cNvSpPr txBox="1"/>
          <p:nvPr/>
        </p:nvSpPr>
        <p:spPr>
          <a:xfrm>
            <a:off x="5148072" y="4343400"/>
            <a:ext cx="1097280" cy="274320"/>
          </a:xfrm>
          <a:prstGeom prst="rect">
            <a:avLst/>
          </a:prstGeom>
          <a:noFill/>
        </p:spPr>
        <p:txBody>
          <a:bodyPr wrap="square">
            <a:spAutoFit/>
          </a:bodyPr>
          <a:lstStyle/>
          <a:p>
            <a:pPr algn="l">
              <a:defRPr sz="800" b="0">
                <a:solidFill>
                  <a:srgbClr val="58A6FF"/>
                </a:solidFill>
                <a:latin typeface="Segoe UI"/>
              </a:defRPr>
            </a:pPr>
            <a:r>
              <a:t>Work IQ</a:t>
            </a:r>
          </a:p>
        </p:txBody>
      </p:sp>
      <p:sp>
        <p:nvSpPr>
          <p:cNvPr id="27" name="Rounded Rectangle 26"/>
          <p:cNvSpPr/>
          <p:nvPr/>
        </p:nvSpPr>
        <p:spPr>
          <a:xfrm>
            <a:off x="6400800" y="3931920"/>
            <a:ext cx="1234440" cy="868680"/>
          </a:xfrm>
          <a:prstGeom prst="roundRect">
            <a:avLst>
              <a:gd name="adj" fmla="val 6000"/>
            </a:avLst>
          </a:prstGeom>
          <a:solidFill>
            <a:srgbClr val="21262D"/>
          </a:solidFill>
          <a:ln w="127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3952" y="3977639"/>
            <a:ext cx="1097280" cy="411480"/>
          </a:xfrm>
          <a:prstGeom prst="rect">
            <a:avLst/>
          </a:prstGeom>
          <a:noFill/>
        </p:spPr>
        <p:txBody>
          <a:bodyPr wrap="square">
            <a:spAutoFit/>
          </a:bodyPr>
          <a:lstStyle/>
          <a:p>
            <a:pPr algn="l">
              <a:defRPr sz="800" b="1">
                <a:solidFill>
                  <a:srgbClr val="FFFFFF"/>
                </a:solidFill>
                <a:latin typeface="Consolas"/>
              </a:defRPr>
            </a:pPr>
            <a:r>
              <a:t>store_audit</a:t>
            </a:r>
          </a:p>
        </p:txBody>
      </p:sp>
      <p:sp>
        <p:nvSpPr>
          <p:cNvPr id="29" name="TextBox 28"/>
          <p:cNvSpPr txBox="1"/>
          <p:nvPr/>
        </p:nvSpPr>
        <p:spPr>
          <a:xfrm>
            <a:off x="6473952" y="4343400"/>
            <a:ext cx="1097280" cy="274320"/>
          </a:xfrm>
          <a:prstGeom prst="rect">
            <a:avLst/>
          </a:prstGeom>
          <a:noFill/>
        </p:spPr>
        <p:txBody>
          <a:bodyPr wrap="square">
            <a:spAutoFit/>
          </a:bodyPr>
          <a:lstStyle/>
          <a:p>
            <a:pPr algn="l">
              <a:defRPr sz="800" b="0">
                <a:solidFill>
                  <a:srgbClr val="58A6FF"/>
                </a:solidFill>
                <a:latin typeface="Segoe UI"/>
              </a:defRPr>
            </a:pPr>
            <a:r>
              <a:t>Fabric IQ</a:t>
            </a:r>
          </a:p>
        </p:txBody>
      </p:sp>
      <p:sp>
        <p:nvSpPr>
          <p:cNvPr id="30" name="TextBox 29"/>
          <p:cNvSpPr txBox="1"/>
          <p:nvPr/>
        </p:nvSpPr>
        <p:spPr>
          <a:xfrm>
            <a:off x="1645920" y="4937760"/>
            <a:ext cx="5486400" cy="228600"/>
          </a:xfrm>
          <a:prstGeom prst="rect">
            <a:avLst/>
          </a:prstGeom>
          <a:noFill/>
        </p:spPr>
        <p:txBody>
          <a:bodyPr wrap="square">
            <a:spAutoFit/>
          </a:bodyPr>
          <a:lstStyle/>
          <a:p>
            <a:pPr algn="l">
              <a:defRPr sz="1200" b="0">
                <a:solidFill>
                  <a:srgbClr val="8B949E"/>
                </a:solidFill>
                <a:latin typeface="Consolas"/>
              </a:defRPr>
            </a:pPr>
            <a:r>
              <a:t>  │      │      │      │      │</a:t>
            </a:r>
          </a:p>
        </p:txBody>
      </p:sp>
      <p:sp>
        <p:nvSpPr>
          <p:cNvPr id="31" name="TextBox 30"/>
          <p:cNvSpPr txBox="1"/>
          <p:nvPr/>
        </p:nvSpPr>
        <p:spPr>
          <a:xfrm>
            <a:off x="1645920" y="5120640"/>
            <a:ext cx="5486400" cy="228600"/>
          </a:xfrm>
          <a:prstGeom prst="rect">
            <a:avLst/>
          </a:prstGeom>
          <a:noFill/>
        </p:spPr>
        <p:txBody>
          <a:bodyPr wrap="square">
            <a:spAutoFit/>
          </a:bodyPr>
          <a:lstStyle/>
          <a:p>
            <a:pPr algn="l">
              <a:defRPr sz="1200" b="0">
                <a:solidFill>
                  <a:srgbClr val="8B949E"/>
                </a:solidFill>
                <a:latin typeface="Consolas"/>
              </a:defRPr>
            </a:pPr>
            <a:r>
              <a:t>  └──────┴──────┴──────┴──────┘</a:t>
            </a:r>
          </a:p>
        </p:txBody>
      </p:sp>
      <p:sp>
        <p:nvSpPr>
          <p:cNvPr id="32" name="TextBox 31"/>
          <p:cNvSpPr txBox="1"/>
          <p:nvPr/>
        </p:nvSpPr>
        <p:spPr>
          <a:xfrm>
            <a:off x="1645920" y="5349240"/>
            <a:ext cx="5486400" cy="228600"/>
          </a:xfrm>
          <a:prstGeom prst="rect">
            <a:avLst/>
          </a:prstGeom>
          <a:noFill/>
        </p:spPr>
        <p:txBody>
          <a:bodyPr wrap="square">
            <a:spAutoFit/>
          </a:bodyPr>
          <a:lstStyle/>
          <a:p>
            <a:pPr algn="l">
              <a:defRPr sz="1200" b="0">
                <a:solidFill>
                  <a:srgbClr val="8B949E"/>
                </a:solidFill>
                <a:latin typeface="Consolas"/>
              </a:defRPr>
            </a:pPr>
            <a:r>
              <a:t>     ▼                    ▼</a:t>
            </a:r>
          </a:p>
        </p:txBody>
      </p:sp>
      <p:sp>
        <p:nvSpPr>
          <p:cNvPr id="33" name="Rounded Rectangle 32"/>
          <p:cNvSpPr/>
          <p:nvPr/>
        </p:nvSpPr>
        <p:spPr>
          <a:xfrm>
            <a:off x="1371600" y="5623560"/>
            <a:ext cx="2560320" cy="502920"/>
          </a:xfrm>
          <a:prstGeom prst="roundRect">
            <a:avLst>
              <a:gd name="adj" fmla="val 6000"/>
            </a:avLst>
          </a:prstGeom>
          <a:solidFill>
            <a:srgbClr val="21262D"/>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63040" y="5669280"/>
            <a:ext cx="2377440" cy="411480"/>
          </a:xfrm>
          <a:prstGeom prst="rect">
            <a:avLst/>
          </a:prstGeom>
          <a:noFill/>
        </p:spPr>
        <p:txBody>
          <a:bodyPr wrap="square">
            <a:spAutoFit/>
          </a:bodyPr>
          <a:lstStyle/>
          <a:p>
            <a:pPr algn="l">
              <a:defRPr sz="1000" b="1">
                <a:solidFill>
                  <a:srgbClr val="3FB950"/>
                </a:solidFill>
                <a:latin typeface="Segoe UI"/>
              </a:defRPr>
            </a:pPr>
            <a:r>
              <a:t>PR Comment (score + findings)</a:t>
            </a:r>
          </a:p>
        </p:txBody>
      </p:sp>
      <p:sp>
        <p:nvSpPr>
          <p:cNvPr id="35" name="Rounded Rectangle 34"/>
          <p:cNvSpPr/>
          <p:nvPr/>
        </p:nvSpPr>
        <p:spPr>
          <a:xfrm>
            <a:off x="4389120" y="5623560"/>
            <a:ext cx="2560320" cy="502920"/>
          </a:xfrm>
          <a:prstGeom prst="roundRect">
            <a:avLst>
              <a:gd name="adj" fmla="val 6000"/>
            </a:avLst>
          </a:prstGeom>
          <a:solidFill>
            <a:srgbClr val="21262D"/>
          </a:solidFill>
          <a:ln w="1270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80560" y="5669280"/>
            <a:ext cx="2377440" cy="411480"/>
          </a:xfrm>
          <a:prstGeom prst="rect">
            <a:avLst/>
          </a:prstGeom>
          <a:noFill/>
        </p:spPr>
        <p:txBody>
          <a:bodyPr wrap="square">
            <a:spAutoFit/>
          </a:bodyPr>
          <a:lstStyle/>
          <a:p>
            <a:pPr algn="l">
              <a:defRPr sz="1000" b="1">
                <a:solidFill>
                  <a:srgbClr val="D29922"/>
                </a:solidFill>
                <a:latin typeface="Segoe UI"/>
              </a:defRPr>
            </a:pPr>
            <a:r>
              <a:t>Fabric IQ Dashboard + Audit</a:t>
            </a:r>
          </a:p>
        </p:txBody>
      </p:sp>
      <p:sp>
        <p:nvSpPr>
          <p:cNvPr id="37" name="TextBox 36"/>
          <p:cNvSpPr txBox="1"/>
          <p:nvPr/>
        </p:nvSpPr>
        <p:spPr>
          <a:xfrm>
            <a:off x="8229600" y="1463040"/>
            <a:ext cx="3657600" cy="274320"/>
          </a:xfrm>
          <a:prstGeom prst="rect">
            <a:avLst/>
          </a:prstGeom>
          <a:noFill/>
        </p:spPr>
        <p:txBody>
          <a:bodyPr wrap="square">
            <a:spAutoFit/>
          </a:bodyPr>
          <a:lstStyle/>
          <a:p>
            <a:pPr algn="l">
              <a:defRPr sz="1100" b="1">
                <a:solidFill>
                  <a:srgbClr val="58A6FF"/>
                </a:solidFill>
                <a:latin typeface="Segoe UI"/>
              </a:defRPr>
            </a:pPr>
            <a:r>
              <a:t>AZURE INTEGRATION</a:t>
            </a:r>
          </a:p>
        </p:txBody>
      </p:sp>
      <p:sp>
        <p:nvSpPr>
          <p:cNvPr id="38" name="Rectangle 37"/>
          <p:cNvSpPr/>
          <p:nvPr/>
        </p:nvSpPr>
        <p:spPr>
          <a:xfrm>
            <a:off x="8229600" y="1874519"/>
            <a:ext cx="73152" cy="411480"/>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0" y="1856231"/>
            <a:ext cx="3200400" cy="256032"/>
          </a:xfrm>
          <a:prstGeom prst="rect">
            <a:avLst/>
          </a:prstGeom>
          <a:noFill/>
        </p:spPr>
        <p:txBody>
          <a:bodyPr wrap="square">
            <a:spAutoFit/>
          </a:bodyPr>
          <a:lstStyle/>
          <a:p>
            <a:pPr algn="l">
              <a:defRPr sz="1200" b="1">
                <a:solidFill>
                  <a:srgbClr val="FFFFFF"/>
                </a:solidFill>
                <a:latin typeface="Segoe UI"/>
              </a:defRPr>
            </a:pPr>
            <a:r>
              <a:t>Azure Container Apps</a:t>
            </a:r>
          </a:p>
        </p:txBody>
      </p:sp>
      <p:sp>
        <p:nvSpPr>
          <p:cNvPr id="40" name="TextBox 39"/>
          <p:cNvSpPr txBox="1"/>
          <p:nvPr/>
        </p:nvSpPr>
        <p:spPr>
          <a:xfrm>
            <a:off x="8412480" y="2075687"/>
            <a:ext cx="3200400" cy="228600"/>
          </a:xfrm>
          <a:prstGeom prst="rect">
            <a:avLst/>
          </a:prstGeom>
          <a:noFill/>
        </p:spPr>
        <p:txBody>
          <a:bodyPr wrap="square">
            <a:spAutoFit/>
          </a:bodyPr>
          <a:lstStyle/>
          <a:p>
            <a:pPr algn="l">
              <a:defRPr sz="1000" b="0">
                <a:solidFill>
                  <a:srgbClr val="8B949E"/>
                </a:solidFill>
                <a:latin typeface="Segoe UI"/>
              </a:defRPr>
            </a:pPr>
            <a:r>
              <a:t>Deployment &amp; scaling</a:t>
            </a:r>
          </a:p>
        </p:txBody>
      </p:sp>
      <p:sp>
        <p:nvSpPr>
          <p:cNvPr id="41" name="Rectangle 40"/>
          <p:cNvSpPr/>
          <p:nvPr/>
        </p:nvSpPr>
        <p:spPr>
          <a:xfrm>
            <a:off x="8229600" y="2441448"/>
            <a:ext cx="73152" cy="41148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2480" y="2423160"/>
            <a:ext cx="3200400" cy="256032"/>
          </a:xfrm>
          <a:prstGeom prst="rect">
            <a:avLst/>
          </a:prstGeom>
          <a:noFill/>
        </p:spPr>
        <p:txBody>
          <a:bodyPr wrap="square">
            <a:spAutoFit/>
          </a:bodyPr>
          <a:lstStyle/>
          <a:p>
            <a:pPr algn="l">
              <a:defRPr sz="1200" b="1">
                <a:solidFill>
                  <a:srgbClr val="FFFFFF"/>
                </a:solidFill>
                <a:latin typeface="Segoe UI"/>
              </a:defRPr>
            </a:pPr>
            <a:r>
              <a:t>Entra ID (Azure AD)</a:t>
            </a:r>
          </a:p>
        </p:txBody>
      </p:sp>
      <p:sp>
        <p:nvSpPr>
          <p:cNvPr id="43" name="TextBox 42"/>
          <p:cNvSpPr txBox="1"/>
          <p:nvPr/>
        </p:nvSpPr>
        <p:spPr>
          <a:xfrm>
            <a:off x="8412480" y="2642616"/>
            <a:ext cx="3200400" cy="228600"/>
          </a:xfrm>
          <a:prstGeom prst="rect">
            <a:avLst/>
          </a:prstGeom>
          <a:noFill/>
        </p:spPr>
        <p:txBody>
          <a:bodyPr wrap="square">
            <a:spAutoFit/>
          </a:bodyPr>
          <a:lstStyle/>
          <a:p>
            <a:pPr algn="l">
              <a:defRPr sz="1000" b="0">
                <a:solidFill>
                  <a:srgbClr val="8B949E"/>
                </a:solidFill>
                <a:latin typeface="Segoe UI"/>
              </a:defRPr>
            </a:pPr>
            <a:r>
              <a:t>Authentication &amp; RBAC</a:t>
            </a:r>
          </a:p>
        </p:txBody>
      </p:sp>
      <p:sp>
        <p:nvSpPr>
          <p:cNvPr id="44" name="Rectangle 43"/>
          <p:cNvSpPr/>
          <p:nvPr/>
        </p:nvSpPr>
        <p:spPr>
          <a:xfrm>
            <a:off x="8229600" y="3008376"/>
            <a:ext cx="73152" cy="41148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80" y="2990088"/>
            <a:ext cx="3200400" cy="256032"/>
          </a:xfrm>
          <a:prstGeom prst="rect">
            <a:avLst/>
          </a:prstGeom>
          <a:noFill/>
        </p:spPr>
        <p:txBody>
          <a:bodyPr wrap="square">
            <a:spAutoFit/>
          </a:bodyPr>
          <a:lstStyle/>
          <a:p>
            <a:pPr algn="l">
              <a:defRPr sz="1200" b="1">
                <a:solidFill>
                  <a:srgbClr val="FFFFFF"/>
                </a:solidFill>
                <a:latin typeface="Segoe UI"/>
              </a:defRPr>
            </a:pPr>
            <a:r>
              <a:t>Azure Key Vault</a:t>
            </a:r>
          </a:p>
        </p:txBody>
      </p:sp>
      <p:sp>
        <p:nvSpPr>
          <p:cNvPr id="46" name="TextBox 45"/>
          <p:cNvSpPr txBox="1"/>
          <p:nvPr/>
        </p:nvSpPr>
        <p:spPr>
          <a:xfrm>
            <a:off x="8412480" y="3209544"/>
            <a:ext cx="3200400" cy="228600"/>
          </a:xfrm>
          <a:prstGeom prst="rect">
            <a:avLst/>
          </a:prstGeom>
          <a:noFill/>
        </p:spPr>
        <p:txBody>
          <a:bodyPr wrap="square">
            <a:spAutoFit/>
          </a:bodyPr>
          <a:lstStyle/>
          <a:p>
            <a:pPr algn="l">
              <a:defRPr sz="1000" b="0">
                <a:solidFill>
                  <a:srgbClr val="8B949E"/>
                </a:solidFill>
                <a:latin typeface="Segoe UI"/>
              </a:defRPr>
            </a:pPr>
            <a:r>
              <a:t>Secrets management</a:t>
            </a:r>
          </a:p>
        </p:txBody>
      </p:sp>
      <p:sp>
        <p:nvSpPr>
          <p:cNvPr id="47" name="Rectangle 46"/>
          <p:cNvSpPr/>
          <p:nvPr/>
        </p:nvSpPr>
        <p:spPr>
          <a:xfrm>
            <a:off x="8229600" y="3575303"/>
            <a:ext cx="73152" cy="41148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0" y="3557015"/>
            <a:ext cx="3200400" cy="256032"/>
          </a:xfrm>
          <a:prstGeom prst="rect">
            <a:avLst/>
          </a:prstGeom>
          <a:noFill/>
        </p:spPr>
        <p:txBody>
          <a:bodyPr wrap="square">
            <a:spAutoFit/>
          </a:bodyPr>
          <a:lstStyle/>
          <a:p>
            <a:pPr algn="l">
              <a:defRPr sz="1200" b="1">
                <a:solidFill>
                  <a:srgbClr val="FFFFFF"/>
                </a:solidFill>
                <a:latin typeface="Segoe UI"/>
              </a:defRPr>
            </a:pPr>
            <a:r>
              <a:t>Azure Purview</a:t>
            </a:r>
          </a:p>
        </p:txBody>
      </p:sp>
      <p:sp>
        <p:nvSpPr>
          <p:cNvPr id="49" name="TextBox 48"/>
          <p:cNvSpPr txBox="1"/>
          <p:nvPr/>
        </p:nvSpPr>
        <p:spPr>
          <a:xfrm>
            <a:off x="8412480" y="3776471"/>
            <a:ext cx="3200400" cy="228600"/>
          </a:xfrm>
          <a:prstGeom prst="rect">
            <a:avLst/>
          </a:prstGeom>
          <a:noFill/>
        </p:spPr>
        <p:txBody>
          <a:bodyPr wrap="square">
            <a:spAutoFit/>
          </a:bodyPr>
          <a:lstStyle/>
          <a:p>
            <a:pPr algn="l">
              <a:defRPr sz="1000" b="0">
                <a:solidFill>
                  <a:srgbClr val="8B949E"/>
                </a:solidFill>
                <a:latin typeface="Segoe UI"/>
              </a:defRPr>
            </a:pPr>
            <a:r>
              <a:t>Data classification (PII/PHI)</a:t>
            </a:r>
          </a:p>
        </p:txBody>
      </p:sp>
      <p:sp>
        <p:nvSpPr>
          <p:cNvPr id="50" name="Rectangle 49"/>
          <p:cNvSpPr/>
          <p:nvPr/>
        </p:nvSpPr>
        <p:spPr>
          <a:xfrm>
            <a:off x="8229600" y="4142231"/>
            <a:ext cx="73152" cy="411480"/>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2480" y="4123943"/>
            <a:ext cx="3200400" cy="256032"/>
          </a:xfrm>
          <a:prstGeom prst="rect">
            <a:avLst/>
          </a:prstGeom>
          <a:noFill/>
        </p:spPr>
        <p:txBody>
          <a:bodyPr wrap="square">
            <a:spAutoFit/>
          </a:bodyPr>
          <a:lstStyle/>
          <a:p>
            <a:pPr algn="l">
              <a:defRPr sz="1200" b="1">
                <a:solidFill>
                  <a:srgbClr val="FFFFFF"/>
                </a:solidFill>
                <a:latin typeface="Segoe UI"/>
              </a:defRPr>
            </a:pPr>
            <a:r>
              <a:t>Azure Monitor</a:t>
            </a:r>
          </a:p>
        </p:txBody>
      </p:sp>
      <p:sp>
        <p:nvSpPr>
          <p:cNvPr id="52" name="TextBox 51"/>
          <p:cNvSpPr txBox="1"/>
          <p:nvPr/>
        </p:nvSpPr>
        <p:spPr>
          <a:xfrm>
            <a:off x="8412480" y="4343399"/>
            <a:ext cx="3200400" cy="228600"/>
          </a:xfrm>
          <a:prstGeom prst="rect">
            <a:avLst/>
          </a:prstGeom>
          <a:noFill/>
        </p:spPr>
        <p:txBody>
          <a:bodyPr wrap="square">
            <a:spAutoFit/>
          </a:bodyPr>
          <a:lstStyle/>
          <a:p>
            <a:pPr algn="l">
              <a:defRPr sz="1000" b="0">
                <a:solidFill>
                  <a:srgbClr val="8B949E"/>
                </a:solidFill>
                <a:latin typeface="Segoe UI"/>
              </a:defRPr>
            </a:pPr>
            <a:r>
              <a:t>Telemetry &amp; alerting</a:t>
            </a:r>
          </a:p>
        </p:txBody>
      </p:sp>
      <p:sp>
        <p:nvSpPr>
          <p:cNvPr id="53" name="Rectangle 52"/>
          <p:cNvSpPr/>
          <p:nvPr/>
        </p:nvSpPr>
        <p:spPr>
          <a:xfrm>
            <a:off x="8229600" y="4709160"/>
            <a:ext cx="73152" cy="41148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412480" y="4690872"/>
            <a:ext cx="3200400" cy="256032"/>
          </a:xfrm>
          <a:prstGeom prst="rect">
            <a:avLst/>
          </a:prstGeom>
          <a:noFill/>
        </p:spPr>
        <p:txBody>
          <a:bodyPr wrap="square">
            <a:spAutoFit/>
          </a:bodyPr>
          <a:lstStyle/>
          <a:p>
            <a:pPr algn="l">
              <a:defRPr sz="1200" b="1">
                <a:solidFill>
                  <a:srgbClr val="FFFFFF"/>
                </a:solidFill>
                <a:latin typeface="Segoe UI"/>
              </a:defRPr>
            </a:pPr>
            <a:r>
              <a:t>Work IQ</a:t>
            </a:r>
          </a:p>
        </p:txBody>
      </p:sp>
      <p:sp>
        <p:nvSpPr>
          <p:cNvPr id="55" name="TextBox 54"/>
          <p:cNvSpPr txBox="1"/>
          <p:nvPr/>
        </p:nvSpPr>
        <p:spPr>
          <a:xfrm>
            <a:off x="8412480" y="4910328"/>
            <a:ext cx="3200400" cy="228600"/>
          </a:xfrm>
          <a:prstGeom prst="rect">
            <a:avLst/>
          </a:prstGeom>
          <a:noFill/>
        </p:spPr>
        <p:txBody>
          <a:bodyPr wrap="square">
            <a:spAutoFit/>
          </a:bodyPr>
          <a:lstStyle/>
          <a:p>
            <a:pPr algn="l">
              <a:defRPr sz="1000" b="0">
                <a:solidFill>
                  <a:srgbClr val="8B949E"/>
                </a:solidFill>
                <a:latin typeface="Segoe UI"/>
              </a:defRPr>
            </a:pPr>
            <a:r>
              <a:t>Policy management</a:t>
            </a:r>
          </a:p>
        </p:txBody>
      </p:sp>
      <p:sp>
        <p:nvSpPr>
          <p:cNvPr id="56" name="Rectangle 55"/>
          <p:cNvSpPr/>
          <p:nvPr/>
        </p:nvSpPr>
        <p:spPr>
          <a:xfrm>
            <a:off x="8229600" y="5276088"/>
            <a:ext cx="73152" cy="411480"/>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412480" y="5257800"/>
            <a:ext cx="3200400" cy="256032"/>
          </a:xfrm>
          <a:prstGeom prst="rect">
            <a:avLst/>
          </a:prstGeom>
          <a:noFill/>
        </p:spPr>
        <p:txBody>
          <a:bodyPr wrap="square">
            <a:spAutoFit/>
          </a:bodyPr>
          <a:lstStyle/>
          <a:p>
            <a:pPr algn="l">
              <a:defRPr sz="1200" b="1">
                <a:solidFill>
                  <a:srgbClr val="FFFFFF"/>
                </a:solidFill>
                <a:latin typeface="Segoe UI"/>
              </a:defRPr>
            </a:pPr>
            <a:r>
              <a:t>Fabric IQ</a:t>
            </a:r>
          </a:p>
        </p:txBody>
      </p:sp>
      <p:sp>
        <p:nvSpPr>
          <p:cNvPr id="58" name="TextBox 57"/>
          <p:cNvSpPr txBox="1"/>
          <p:nvPr/>
        </p:nvSpPr>
        <p:spPr>
          <a:xfrm>
            <a:off x="8412480" y="5477256"/>
            <a:ext cx="3200400" cy="228600"/>
          </a:xfrm>
          <a:prstGeom prst="rect">
            <a:avLst/>
          </a:prstGeom>
          <a:noFill/>
        </p:spPr>
        <p:txBody>
          <a:bodyPr wrap="square">
            <a:spAutoFit/>
          </a:bodyPr>
          <a:lstStyle/>
          <a:p>
            <a:pPr algn="l">
              <a:defRPr sz="1000" b="0">
                <a:solidFill>
                  <a:srgbClr val="8B949E"/>
                </a:solidFill>
                <a:latin typeface="Segoe UI"/>
              </a:defRPr>
            </a:pPr>
            <a:r>
              <a:t>Audit trail &amp; dashboards</a:t>
            </a:r>
          </a:p>
        </p:txBody>
      </p:sp>
      <p:sp>
        <p:nvSpPr>
          <p:cNvPr id="59" name="TextBox 58"/>
          <p:cNvSpPr txBox="1"/>
          <p:nvPr/>
        </p:nvSpPr>
        <p:spPr>
          <a:xfrm>
            <a:off x="8229600" y="5852160"/>
            <a:ext cx="3657600" cy="274320"/>
          </a:xfrm>
          <a:prstGeom prst="rect">
            <a:avLst/>
          </a:prstGeom>
          <a:noFill/>
        </p:spPr>
        <p:txBody>
          <a:bodyPr wrap="square">
            <a:spAutoFit/>
          </a:bodyPr>
          <a:lstStyle/>
          <a:p>
            <a:pPr algn="l">
              <a:defRPr sz="1100" b="1">
                <a:solidFill>
                  <a:srgbClr val="58A6FF"/>
                </a:solidFill>
                <a:latin typeface="Segoe UI"/>
              </a:defRPr>
            </a:pPr>
            <a:r>
              <a:t>FRAMEWORKS</a:t>
            </a:r>
          </a:p>
        </p:txBody>
      </p:sp>
      <p:sp>
        <p:nvSpPr>
          <p:cNvPr id="60" name="TextBox 59"/>
          <p:cNvSpPr txBox="1"/>
          <p:nvPr/>
        </p:nvSpPr>
        <p:spPr>
          <a:xfrm>
            <a:off x="8229600" y="6126480"/>
            <a:ext cx="3657600" cy="274320"/>
          </a:xfrm>
          <a:prstGeom prst="rect">
            <a:avLst/>
          </a:prstGeom>
          <a:noFill/>
        </p:spPr>
        <p:txBody>
          <a:bodyPr wrap="square">
            <a:spAutoFit/>
          </a:bodyPr>
          <a:lstStyle/>
          <a:p>
            <a:pPr algn="l">
              <a:defRPr sz="1200" b="0">
                <a:solidFill>
                  <a:srgbClr val="C9D1D9"/>
                </a:solidFill>
                <a:latin typeface="Segoe UI"/>
              </a:defRPr>
            </a:pPr>
            <a:r>
              <a:t>SOC 2 Type II  ·  HIPAA  ·  Extensible</a:t>
            </a:r>
          </a:p>
        </p:txBody>
      </p:sp>
      <p:sp>
        <p:nvSpPr>
          <p:cNvPr id="61" name="TextBox 60"/>
          <p:cNvSpPr txBox="1"/>
          <p:nvPr/>
        </p:nvSpPr>
        <p:spPr>
          <a:xfrm>
            <a:off x="731520" y="6446520"/>
            <a:ext cx="10972800" cy="320040"/>
          </a:xfrm>
          <a:prstGeom prst="rect">
            <a:avLst/>
          </a:prstGeom>
          <a:noFill/>
        </p:spPr>
        <p:txBody>
          <a:bodyPr wrap="square">
            <a:spAutoFit/>
          </a:bodyPr>
          <a:lstStyle/>
          <a:p>
            <a:pPr algn="r">
              <a:defRPr sz="1100" b="0">
                <a:solidFill>
                  <a:srgbClr val="58A6FF"/>
                </a:solidFill>
                <a:latin typeface="Segoe UI"/>
              </a:defRPr>
            </a:pPr>
            <a:r>
              <a:t>github.com/adgranoff/Compliance-Copilot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315</Words>
  <Application>Microsoft Office PowerPoint</Application>
  <PresentationFormat>Widescreen</PresentationFormat>
  <Paragraphs>70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Segoe UI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Adam Granoff</cp:lastModifiedBy>
  <cp:revision>3</cp:revision>
  <dcterms:created xsi:type="dcterms:W3CDTF">2013-01-27T09:14:16Z</dcterms:created>
  <dcterms:modified xsi:type="dcterms:W3CDTF">2026-02-27T00:09:10Z</dcterms:modified>
  <cp:category/>
</cp:coreProperties>
</file>